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7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02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Weather Risk Insurance &amp; Parametric Agricultural Protection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3703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 ·  Decentralized Oracles  ·  Solidity 0.8.20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E90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Technology — Project Review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Crop Insurance Is Broken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7151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1965960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01368"/>
            <a:ext cx="47228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Claim Inspections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7228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on-ground assessors to verify crop damage, introducing delay and human bias.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4476" y="1600200"/>
            <a:ext cx="527151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76" y="1600200"/>
            <a:ext cx="73152" cy="1965960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10" name="Text 8"/>
          <p:cNvSpPr/>
          <p:nvPr/>
        </p:nvSpPr>
        <p:spPr>
          <a:xfrm>
            <a:off x="6414516" y="1801368"/>
            <a:ext cx="47228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Lengthy Settlement Delays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14516" y="2286000"/>
            <a:ext cx="47228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often wait weeks or months after a weather event before receiving payouts.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27151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73152" cy="1965960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41648"/>
            <a:ext cx="47228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Administrative Costs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526280"/>
            <a:ext cx="47228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Intermediaries, paperwork, and manual verification inflate premiums.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4476" y="3840480"/>
            <a:ext cx="527151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4476" y="3840480"/>
            <a:ext cx="73152" cy="1965960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18" name="Text 16"/>
          <p:cNvSpPr/>
          <p:nvPr/>
        </p:nvSpPr>
        <p:spPr>
          <a:xfrm>
            <a:off x="6414516" y="4041648"/>
            <a:ext cx="47228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Transparency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14516" y="4526280"/>
            <a:ext cx="472287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have little visibility into how claims are assessed or approved.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 — Parametric Crop Insurance on Ethereum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Automated, On-Chain Insurance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36192"/>
            <a:ext cx="10771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Triggers  —  </a:t>
            </a:r>
            <a:r>
              <a:rPr lang="en-US" sz="135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are defined by verifiable environmental conditions — e.g. cumulative rainfall below a set threshold during the crop window — removing subjective claims assessment.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04872"/>
            <a:ext cx="10771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Oracles  —  </a:t>
            </a:r>
            <a:r>
              <a:rPr lang="en-US" sz="135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of 5 independent oracle nodes aggregates IoT weather telemetry and external APIs using a reputation-weighted consensus mechanism.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410712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73552"/>
            <a:ext cx="107716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Payouts  —  </a:t>
            </a:r>
            <a:r>
              <a:rPr lang="en-US" sz="135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conditions cross the risk threshold, Ethereum smart contracts transfer payouts directly to the farmer's wallet — no intermediaries, no manual approval.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 — Parametric Crop Insurance on Ethereum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Three-Layer System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4344" cy="502920"/>
          </a:xfrm>
          <a:prstGeom prst="rect">
            <a:avLst/>
          </a:prstGeom>
          <a:solidFill>
            <a:srgbClr val="6B9BC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Environmental Telemetry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1434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IoT Sensors / OpenWeatherMap API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Decentralized Oracle Network (5 nodes)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Reputation-weighted consensus engine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062984" y="2194560"/>
            <a:ext cx="274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337304" y="1600200"/>
            <a:ext cx="3514344" cy="502920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12" name="Text 10"/>
          <p:cNvSpPr/>
          <p:nvPr/>
        </p:nvSpPr>
        <p:spPr>
          <a:xfrm>
            <a:off x="4474464" y="160020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Smart Contracts (Solidity 0.8.20)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37304" y="2194560"/>
            <a:ext cx="351434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0184" y="242316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OracleAdapter.sol — historical aggregation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0184" y="329184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PolicyFactory.sol — policy creation &amp; verification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0184" y="416052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Treasury.sol — premium pool &amp; auto-payouts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51648" y="2194560"/>
            <a:ext cx="274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25968" y="1600200"/>
            <a:ext cx="3514344" cy="5029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9" name="Text 17"/>
          <p:cNvSpPr/>
          <p:nvPr/>
        </p:nvSpPr>
        <p:spPr>
          <a:xfrm>
            <a:off x="8263128" y="1600200"/>
            <a:ext cx="32400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Full-Stack Interface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125968" y="2194560"/>
            <a:ext cx="3514344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08848" y="242316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Express REST API &amp; WebSockets (port 3001)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308848" y="329184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 Web3 Dashboard (port 3000)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08848" y="4160520"/>
            <a:ext cx="3148584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Crop recommendation service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 — Parametric Crop Insurance on Ethereum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(Solidity 0.8.20)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377440" cy="141732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OracleAdapter.sol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200400" y="1645920"/>
            <a:ext cx="8257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and stores historical weather readings submitted by the oracle network; exposes verified data to policy logic.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64408"/>
            <a:ext cx="1109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264408"/>
            <a:ext cx="2377440" cy="141732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264408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PolicyFactory.sol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3264408"/>
            <a:ext cx="8257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insurance policy instances, defines parametric trigger conditions, and verifies policyholder eligibility.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82896"/>
            <a:ext cx="11091672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882896"/>
            <a:ext cx="2377440" cy="141732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882896"/>
            <a:ext cx="2011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Treasury.sol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0400" y="4882896"/>
            <a:ext cx="825703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pooled premiums and automatically releases payouts once a policy's trigger condition is confirmed on-chain.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 — Parametric Crop Insurance on Ethereum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Oracle Network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oracle nodes collect weather telemetry and reach consensus before data reaches the blockchain — applying statistical outlier rejection (&gt;2.0σ) and reputation-weighted voting to eliminate single-point-of-failure risks.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39596" y="2514600"/>
            <a:ext cx="822960" cy="822960"/>
          </a:xfrm>
          <a:prstGeom prst="ellipse">
            <a:avLst/>
          </a:prstGeom>
          <a:solidFill>
            <a:srgbClr val="3B6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6716" y="2514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11296" y="2514600"/>
            <a:ext cx="822960" cy="822960"/>
          </a:xfrm>
          <a:prstGeom prst="ellipse">
            <a:avLst/>
          </a:prstGeom>
          <a:solidFill>
            <a:srgbClr val="3B6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28416" y="2514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82996" y="2514600"/>
            <a:ext cx="822960" cy="822960"/>
          </a:xfrm>
          <a:prstGeom prst="ellipse">
            <a:avLst/>
          </a:prstGeom>
          <a:solidFill>
            <a:srgbClr val="3B6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0116" y="2514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3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54696" y="2514600"/>
            <a:ext cx="822960" cy="822960"/>
          </a:xfrm>
          <a:prstGeom prst="ellipse">
            <a:avLst/>
          </a:prstGeom>
          <a:solidFill>
            <a:srgbClr val="3B6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71816" y="2514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0026396" y="2514600"/>
            <a:ext cx="822960" cy="822960"/>
          </a:xfrm>
          <a:prstGeom prst="ellipse">
            <a:avLst/>
          </a:prstGeom>
          <a:solidFill>
            <a:srgbClr val="3B6E9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43516" y="25146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5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91672" cy="64008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84048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Reputation-Weighted Consensus Engine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820156" y="45262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" y="4937760"/>
            <a:ext cx="11091672" cy="640080"/>
          </a:xfrm>
          <a:prstGeom prst="rect">
            <a:avLst/>
          </a:prstGeom>
          <a:solidFill>
            <a:srgbClr val="1B2A33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93776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OracleAdapter.sol  →  Verified data available to Smart Contracts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 — Parametric Crop Insurance on Ethereum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03120" cy="566928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834640" y="1645920"/>
            <a:ext cx="8805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0.8.20, Hardhat (Localhost 8545, Chain ID 31337), Ethers.js v6, MetaMask integration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2103120" cy="566928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915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34640" y="2359152"/>
            <a:ext cx="8805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 REST API, WebSockets (real-time updates)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72384"/>
            <a:ext cx="2103120" cy="566928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72384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&amp; IoT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834640" y="3072384"/>
            <a:ext cx="8805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oracle service, simulated IoT weather sensors feeding telemetry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85616"/>
            <a:ext cx="2103120" cy="566928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85616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834640" y="3785616"/>
            <a:ext cx="8805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Web3 dashboard for policyholders and farmers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98848"/>
            <a:ext cx="2103120" cy="566928"/>
          </a:xfrm>
          <a:prstGeom prst="rect">
            <a:avLst/>
          </a:prstGeom>
          <a:solidFill>
            <a:srgbClr val="3B6E9E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98848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834640" y="4498848"/>
            <a:ext cx="8805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Multi-factor KNN crop recommendation engine (22 crop varieties, 2,200 agronomic soil &amp; climate records) with Min-Max feature normalization for intelligent farmer risk advisory.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 — Parametric Crop Insurance on Ethereum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Policy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457200" cy="457200"/>
          </a:xfrm>
          <a:prstGeom prst="ellipse">
            <a:avLst/>
          </a:prstGeom>
          <a:solidFill>
            <a:srgbClr val="3B6E9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10405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purchases a parametric policy via the React dashboard (MetaMask)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240280"/>
            <a:ext cx="0" cy="292608"/>
          </a:xfrm>
          <a:prstGeom prst="line">
            <a:avLst/>
          </a:prstGeom>
          <a:noFill/>
          <a:ln w="19050">
            <a:solidFill>
              <a:srgbClr val="C6CF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06040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532888"/>
            <a:ext cx="10405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PolicyFactory.sol records the policy and trigger threshold on-chain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081528"/>
            <a:ext cx="0" cy="292608"/>
          </a:xfrm>
          <a:prstGeom prst="line">
            <a:avLst/>
          </a:prstGeom>
          <a:noFill/>
          <a:ln w="19050">
            <a:solidFill>
              <a:srgbClr val="C6CF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3B6E9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374136"/>
            <a:ext cx="10405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nodes continuously report weather data; consensus engine validates 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3922776"/>
            <a:ext cx="0" cy="292608"/>
          </a:xfrm>
          <a:prstGeom prst="line">
            <a:avLst/>
          </a:prstGeom>
          <a:noFill/>
          <a:ln w="19050">
            <a:solidFill>
              <a:srgbClr val="C6CF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288536"/>
            <a:ext cx="457200" cy="457200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215384"/>
            <a:ext cx="10405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OracleAdapter.sol stores verified, aggregated readings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4764024"/>
            <a:ext cx="0" cy="292608"/>
          </a:xfrm>
          <a:prstGeom prst="line">
            <a:avLst/>
          </a:prstGeom>
          <a:noFill/>
          <a:ln w="19050">
            <a:solidFill>
              <a:srgbClr val="C6CF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5129784"/>
            <a:ext cx="457200" cy="457200"/>
          </a:xfrm>
          <a:prstGeom prst="ellipse">
            <a:avLst/>
          </a:prstGeom>
          <a:solidFill>
            <a:srgbClr val="3B6E9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5056632"/>
            <a:ext cx="1040587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trigger condition is met, Treasury.sol auto-releases the payout to the farmer's wallet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 — Parametric Crop Insurance on Ethereum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B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Blockchain Fits This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271516" cy="7315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47228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Trustless Automation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7228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execute payouts exactly as coded — no claims adjuster discretion, no delay.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94476" y="164592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4476" y="1645920"/>
            <a:ext cx="5271516" cy="7315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368796" y="1874520"/>
            <a:ext cx="47228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Policy Terms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368796" y="2331720"/>
            <a:ext cx="47228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conditions are locked on-chain at policy creation and cannot be altered after the fact.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5271516" cy="7315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069080"/>
            <a:ext cx="47228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Fund Flows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47228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pooling and payouts in Treasury.sol are publicly verifiable on-chain.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94476" y="3840480"/>
            <a:ext cx="5271516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4476" y="3840480"/>
            <a:ext cx="5271516" cy="73152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8" name="Text 16"/>
          <p:cNvSpPr/>
          <p:nvPr/>
        </p:nvSpPr>
        <p:spPr>
          <a:xfrm>
            <a:off x="6368796" y="4069080"/>
            <a:ext cx="47228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Counterparty Risk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68796" y="4526280"/>
            <a:ext cx="47228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are paid directly from a smart contract, not dependent on an insurer's solvency or goodwill.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 — Parametric Crop Insurance on Ethereum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CropCover — Decentralized Parametric Crop Insurance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3B6E9E"/>
                </a:solidFill>
                <a:latin typeface="Calibri"/>
              </a:rPr>
              <a:t>DEMONSTRATION &amp;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A1F"/>
                </a:solidFill>
                <a:latin typeface="Calibri"/>
              </a:rPr>
              <a:t>Live Platform Verification &amp; System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527151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73152" cy="1965960"/>
          </a:xfrm>
          <a:prstGeom prst="rect">
            <a:avLst/>
          </a:prstGeom>
          <a:solidFill>
            <a:srgbClr val="3B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01368"/>
            <a:ext cx="47228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1F"/>
                </a:solidFill>
                <a:latin typeface="Calibri"/>
              </a:rPr>
              <a:t>MetaMask Wallet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228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6B66"/>
                </a:solidFill>
                <a:latin typeface="Calibri"/>
              </a:rPr>
              <a:t>Seamless connection to local Hardhat Ethereum node (Chain ID 31337) with live test pool balance monitoring (10,000 ETH).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600200"/>
            <a:ext cx="527151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1600200"/>
            <a:ext cx="73152" cy="1965960"/>
          </a:xfrm>
          <a:prstGeom prst="rect">
            <a:avLst/>
          </a:prstGeom>
          <a:solidFill>
            <a:srgbClr val="3B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1801368"/>
            <a:ext cx="47228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1F"/>
                </a:solidFill>
                <a:latin typeface="Calibri"/>
              </a:rPr>
              <a:t>Policy Underwriting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4516" y="2286000"/>
            <a:ext cx="47228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6B66"/>
                </a:solidFill>
                <a:latin typeface="Calibri"/>
              </a:rPr>
              <a:t>Dynamic on-chain premium calculations, regional threshold calibration (18 European weather stations), and instant policy deployment.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40480"/>
            <a:ext cx="527151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1965960"/>
          </a:xfrm>
          <a:prstGeom prst="rect">
            <a:avLst/>
          </a:prstGeom>
          <a:solidFill>
            <a:srgbClr val="3B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41648"/>
            <a:ext cx="47228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1F"/>
                </a:solidFill>
                <a:latin typeface="Calibri"/>
              </a:rPr>
              <a:t>Live Weather Telemetry Feed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47228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6B66"/>
                </a:solidFill>
                <a:latin typeface="Calibri"/>
              </a:rPr>
              <a:t>Real-time sensor rounds streaming cumulative precipitation, temperature, and humidity with automated multi-node consensus.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3840480"/>
            <a:ext cx="5271516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4476" y="3840480"/>
            <a:ext cx="73152" cy="1965960"/>
          </a:xfrm>
          <a:prstGeom prst="rect">
            <a:avLst/>
          </a:prstGeom>
          <a:solidFill>
            <a:srgbClr val="3B6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4516" y="4041648"/>
            <a:ext cx="47228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1A1F"/>
                </a:solidFill>
                <a:latin typeface="Calibri"/>
              </a:rPr>
              <a:t>Autonomous Payout Settlement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4526280"/>
            <a:ext cx="47228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6B66"/>
                </a:solidFill>
                <a:latin typeface="Calibri"/>
              </a:rPr>
              <a:t>Smart contracts evaluate environmental conditions against locked thresholds, executing immediate payouts with zero paperwork.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A6B66"/>
                </a:solidFill>
                <a:latin typeface="Calibri"/>
              </a:rPr>
              <a:t>CropCover — Parametric Crop Insurance on Ethereum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5105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A6B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CropCover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Blockchain Review</dc:creator>
  <cp:lastModifiedBy>Loknath Kanamarlapudi</cp:lastModifiedBy>
  <cp:revision>2</cp:revision>
  <dcterms:created xsi:type="dcterms:W3CDTF">2026-10-19T15:23:06Z</dcterms:created>
  <dcterms:modified xsi:type="dcterms:W3CDTF">2026-10-19T15:30:00Z</dcterms:modified>
</cp:coreProperties>
</file>